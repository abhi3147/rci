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8" r:id="rId2"/>
    <p:sldId id="257" r:id="rId3"/>
    <p:sldId id="259" r:id="rId4"/>
    <p:sldId id="260" r:id="rId5"/>
    <p:sldId id="269" r:id="rId6"/>
    <p:sldId id="270" r:id="rId7"/>
    <p:sldId id="271" r:id="rId8"/>
    <p:sldId id="262" r:id="rId9"/>
    <p:sldId id="261" r:id="rId10"/>
    <p:sldId id="263" r:id="rId11"/>
    <p:sldId id="272" r:id="rId12"/>
    <p:sldId id="273" r:id="rId13"/>
    <p:sldId id="275" r:id="rId14"/>
    <p:sldId id="278" r:id="rId15"/>
    <p:sldId id="279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2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22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8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5EDF-A289-D964-E6B4-EB756382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06A6A-0401-232C-A332-E179968DD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714F4-6876-13A9-CD2F-1E02F0868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FBFDB-D57F-E6FC-1807-374B113F6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49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48CA-60BC-6F93-FB35-C380ED55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ABF97-4192-CBED-A8EF-300E17735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4B635-8FE4-DDA0-7202-790913D93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8749E-8CEC-254E-D458-BAFB6A4CD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68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B494-5AF3-EBA7-F3AF-E234886F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4C6A6-3E66-2778-641E-DB2534977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2AA61-4C28-AF1C-4F03-D6B8303B6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2044-57C6-A95E-AEEF-C373DF018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96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5575-C25E-7E6A-83FC-25CF8AC5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FDF66-6C9B-010A-0713-A4324A172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9B7DF-6E14-002B-BB98-8A3487BCC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E049-7E1A-37C2-05A5-6C15E38BB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17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5575-C25E-7E6A-83FC-25CF8AC5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FDF66-6C9B-010A-0713-A4324A172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9B7DF-6E14-002B-BB98-8A3487BCC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E049-7E1A-37C2-05A5-6C15E38BB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17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5575-C25E-7E6A-83FC-25CF8AC5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FDF66-6C9B-010A-0713-A4324A172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9B7DF-6E14-002B-BB98-8A3487BCC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E049-7E1A-37C2-05A5-6C15E38BB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17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eck Orange Circle">
            <a:extLst>
              <a:ext uri="{FF2B5EF4-FFF2-40B4-BE49-F238E27FC236}">
                <a16:creationId xmlns:a16="http://schemas.microsoft.com/office/drawing/2014/main" id="{DA05D40D-342D-4DBB-986A-D418AABAEFE9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11414455" y="-320040"/>
            <a:ext cx="1005840" cy="100584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048695" y="-685800"/>
            <a:ext cx="1737360" cy="173736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82935" y="-1051560"/>
            <a:ext cx="2468880" cy="246888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411480" y="6263640"/>
            <a:ext cx="1005840" cy="100584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-777240" y="5897880"/>
            <a:ext cx="1737360" cy="173736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-1143000" y="5532120"/>
            <a:ext cx="2468880" cy="246888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42855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198303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353751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09199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664647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820095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975543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130991" y="56235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042855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198303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353751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509199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664647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820095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975543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1130991" y="57790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042855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198303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353751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0509199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664647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820095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975543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1130991" y="59344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042855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198303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353751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509199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664647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820095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0975543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1130991" y="60899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0042855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198303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353751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509199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0664647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0820095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0975543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1130991" y="6245352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7724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Automatic Decision Making in Robotics with VLM Models and RL </a:t>
            </a:r>
            <a:endParaRPr lang="en-US" sz="4400" dirty="0"/>
          </a:p>
        </p:txBody>
      </p:sp>
      <p:sp>
        <p:nvSpPr>
          <p:cNvPr id="50" name="Text 48"/>
          <p:cNvSpPr/>
          <p:nvPr/>
        </p:nvSpPr>
        <p:spPr>
          <a:xfrm>
            <a:off x="822960" y="3703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vision-language models turn perception into goal-directed robotic action</a:t>
            </a:r>
            <a:endParaRPr lang="en-US" sz="1700" dirty="0"/>
          </a:p>
        </p:txBody>
      </p:sp>
      <p:sp>
        <p:nvSpPr>
          <p:cNvPr id="52" name="Cover Scope Accent">
            <a:extLst>
              <a:ext uri="{FF2B5EF4-FFF2-40B4-BE49-F238E27FC236}">
                <a16:creationId xmlns:a16="http://schemas.microsoft.com/office/drawing/2014/main" id="{690880E0-A90D-4C39-B6C1-88F12A5B1A25}"/>
              </a:ext>
            </a:extLst>
          </p:cNvPr>
          <p:cNvSpPr/>
          <p:nvPr/>
        </p:nvSpPr>
        <p:spPr>
          <a:xfrm>
            <a:off x="825500" y="5600700"/>
            <a:ext cx="533400" cy="31750"/>
          </a:xfrm>
          <a:prstGeom prst="rect">
            <a:avLst/>
          </a:prstGeom>
          <a:solidFill>
            <a:srgbClr val="F59A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3" name="Cover Scope Line">
            <a:extLst>
              <a:ext uri="{FF2B5EF4-FFF2-40B4-BE49-F238E27FC236}">
                <a16:creationId xmlns:a16="http://schemas.microsoft.com/office/drawing/2014/main" id="{5B71E19E-2643-490F-B60B-E2AC7DEE917D}"/>
              </a:ext>
            </a:extLst>
          </p:cNvPr>
          <p:cNvSpPr txBox="1"/>
          <p:nvPr/>
        </p:nvSpPr>
        <p:spPr>
          <a:xfrm>
            <a:off x="825500" y="5727700"/>
            <a:ext cx="6604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050">
                <a:solidFill>
                  <a:srgbClr val="AEB9CC"/>
                </a:solidFill>
                <a:latin typeface="Calibri"/>
                <a:cs typeface="Calibri"/>
              </a:rPr>
              <a:t>Scope: multimodal perception, language-grounded planning, and closed-loop robot control</a:t>
            </a:r>
            <a:endParaRPr lang="en-IN" sz="1050">
              <a:solidFill>
                <a:srgbClr val="AEB9C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668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Deck Orange Circle">
            <a:extLst>
              <a:ext uri="{FF2B5EF4-FFF2-40B4-BE49-F238E27FC236}">
                <a16:creationId xmlns:a16="http://schemas.microsoft.com/office/drawing/2014/main" id="{4ED6AF71-916F-4141-AAC9-FB843EDE2B10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716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5680" y="1513840"/>
            <a:ext cx="66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95680" y="2694940"/>
            <a:ext cx="66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995680" y="4279900"/>
            <a:ext cx="66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995680" y="5469523"/>
            <a:ext cx="66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1484775" y="5771273"/>
            <a:ext cx="787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Sources and supporting materials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0" name="VLM Subsection Label">
            <a:extLst>
              <a:ext uri="{FF2B5EF4-FFF2-40B4-BE49-F238E27FC236}">
                <a16:creationId xmlns:a16="http://schemas.microsoft.com/office/drawing/2014/main" id="{98E90CD8-047E-4D36-BFE2-6B877DD502CD}"/>
              </a:ext>
            </a:extLst>
          </p:cNvPr>
          <p:cNvSpPr txBox="1"/>
          <p:nvPr/>
        </p:nvSpPr>
        <p:spPr>
          <a:xfrm>
            <a:off x="1508760" y="1932941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What is VLM?</a:t>
            </a:r>
          </a:p>
        </p:txBody>
      </p:sp>
      <p:sp>
        <p:nvSpPr>
          <p:cNvPr id="49" name="VLM Subsection Label">
            <a:extLst>
              <a:ext uri="{FF2B5EF4-FFF2-40B4-BE49-F238E27FC236}">
                <a16:creationId xmlns:a16="http://schemas.microsoft.com/office/drawing/2014/main" id="{EDBC493B-9A8C-4EAB-30B7-183447C44189}"/>
              </a:ext>
            </a:extLst>
          </p:cNvPr>
          <p:cNvSpPr txBox="1"/>
          <p:nvPr/>
        </p:nvSpPr>
        <p:spPr>
          <a:xfrm>
            <a:off x="1475740" y="3074679"/>
            <a:ext cx="3083560" cy="30580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600" b="1" dirty="0" err="1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SayCan</a:t>
            </a: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 – Ahn et al.,(2022)</a:t>
            </a:r>
          </a:p>
        </p:txBody>
      </p:sp>
      <p:sp>
        <p:nvSpPr>
          <p:cNvPr id="52" name="VLM Subsection Label">
            <a:extLst>
              <a:ext uri="{FF2B5EF4-FFF2-40B4-BE49-F238E27FC236}">
                <a16:creationId xmlns:a16="http://schemas.microsoft.com/office/drawing/2014/main" id="{F60B8F0D-D167-9149-9075-8911ADAF1AA8}"/>
              </a:ext>
            </a:extLst>
          </p:cNvPr>
          <p:cNvSpPr txBox="1"/>
          <p:nvPr/>
        </p:nvSpPr>
        <p:spPr>
          <a:xfrm>
            <a:off x="1513840" y="2284999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What is RL?</a:t>
            </a:r>
          </a:p>
        </p:txBody>
      </p:sp>
      <p:sp>
        <p:nvSpPr>
          <p:cNvPr id="53" name="VLM Subsection Label">
            <a:extLst>
              <a:ext uri="{FF2B5EF4-FFF2-40B4-BE49-F238E27FC236}">
                <a16:creationId xmlns:a16="http://schemas.microsoft.com/office/drawing/2014/main" id="{7117CE4B-A3F6-BDB4-F9BA-D24F2AA6C1C3}"/>
              </a:ext>
            </a:extLst>
          </p:cNvPr>
          <p:cNvSpPr txBox="1"/>
          <p:nvPr/>
        </p:nvSpPr>
        <p:spPr>
          <a:xfrm>
            <a:off x="1473200" y="3449320"/>
            <a:ext cx="3627120" cy="27560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RT2 – </a:t>
            </a:r>
            <a:r>
              <a:rPr lang="en-IN" sz="1600" b="1" dirty="0" err="1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B.Zitkovich</a:t>
            </a: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 et al., (2023)</a:t>
            </a:r>
          </a:p>
        </p:txBody>
      </p:sp>
      <p:sp>
        <p:nvSpPr>
          <p:cNvPr id="55" name="VLM Subsection Label">
            <a:extLst>
              <a:ext uri="{FF2B5EF4-FFF2-40B4-BE49-F238E27FC236}">
                <a16:creationId xmlns:a16="http://schemas.microsoft.com/office/drawing/2014/main" id="{E548548E-5228-C1FE-CD0D-C046A97F77AB}"/>
              </a:ext>
            </a:extLst>
          </p:cNvPr>
          <p:cNvSpPr txBox="1"/>
          <p:nvPr/>
        </p:nvSpPr>
        <p:spPr>
          <a:xfrm>
            <a:off x="1475740" y="3807189"/>
            <a:ext cx="4620260" cy="21820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 err="1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OpenVLA</a:t>
            </a: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Calibri"/>
              </a:rPr>
              <a:t>–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M. J. Kim et al</a:t>
            </a:r>
            <a:r>
              <a:rPr lang="en-IN" sz="1600" b="1" dirty="0">
                <a:solidFill>
                  <a:srgbClr val="243B67"/>
                </a:solidFill>
                <a:latin typeface="Aptos" panose="020B0004020202020204" pitchFamily="34" charset="0"/>
                <a:cs typeface="Calibri"/>
              </a:rPr>
              <a:t>(2023)</a:t>
            </a:r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A1E8DCC9-7068-A215-42B6-6B98FAAD2763}"/>
              </a:ext>
            </a:extLst>
          </p:cNvPr>
          <p:cNvSpPr/>
          <p:nvPr/>
        </p:nvSpPr>
        <p:spPr>
          <a:xfrm>
            <a:off x="1007255" y="4859609"/>
            <a:ext cx="66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ptos" panose="020B0004020202020204" pitchFamily="34" charset="0"/>
                <a:cs typeface="Calibri" pitchFamily="34" charset="-120"/>
              </a:rPr>
              <a:t>Pipeline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FBC89DA8-B2F4-D04C-02C6-794669244063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8" name="Limitations Description">
            <a:extLst>
              <a:ext uri="{FF2B5EF4-FFF2-40B4-BE49-F238E27FC236}">
                <a16:creationId xmlns:a16="http://schemas.microsoft.com/office/drawing/2014/main" id="{D542F018-C2AD-4722-86B7-57A343DDD2AC}"/>
              </a:ext>
            </a:extLst>
          </p:cNvPr>
          <p:cNvSpPr txBox="1"/>
          <p:nvPr/>
        </p:nvSpPr>
        <p:spPr>
          <a:xfrm>
            <a:off x="1484775" y="4593227"/>
            <a:ext cx="7874000" cy="27432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50" dirty="0">
                <a:solidFill>
                  <a:srgbClr val="6B7280"/>
                </a:solidFill>
                <a:latin typeface="Aptos"/>
              </a:rPr>
              <a:t>Key challenges and current constraints</a:t>
            </a:r>
            <a:endParaRPr lang="en-IN" sz="115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9" name="Pipeline Description">
            <a:extLst>
              <a:ext uri="{FF2B5EF4-FFF2-40B4-BE49-F238E27FC236}">
                <a16:creationId xmlns:a16="http://schemas.microsoft.com/office/drawing/2014/main" id="{FCD781A1-170B-4887-A68C-1CE0BE1FF9D3}"/>
              </a:ext>
            </a:extLst>
          </p:cNvPr>
          <p:cNvSpPr txBox="1"/>
          <p:nvPr/>
        </p:nvSpPr>
        <p:spPr>
          <a:xfrm>
            <a:off x="1432815" y="5159102"/>
            <a:ext cx="7874000" cy="27432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50" dirty="0">
                <a:solidFill>
                  <a:srgbClr val="6B7280"/>
                </a:solidFill>
                <a:latin typeface="Aptos"/>
              </a:rPr>
              <a:t>End-to-end workflow and system architecture</a:t>
            </a:r>
            <a:endParaRPr lang="en-IN" sz="115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k Orange Circle">
            <a:extLst>
              <a:ext uri="{FF2B5EF4-FFF2-40B4-BE49-F238E27FC236}">
                <a16:creationId xmlns:a16="http://schemas.microsoft.com/office/drawing/2014/main" id="{0C17E671-4BDB-7ED8-F0C0-FC1248EE351E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66675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7128" y="3202543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is </a:t>
            </a:r>
            <a:r>
              <a:rPr lang="en-IN" sz="2000" b="1" dirty="0">
                <a:latin typeface="Aptos" panose="020B0004020202020204" pitchFamily="34" charset="0"/>
              </a:rPr>
              <a:t>Vision-Language Model (VLM)</a:t>
            </a:r>
            <a:r>
              <a:rPr lang="en-US" sz="20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7" y="3792683"/>
            <a:ext cx="11048695" cy="639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/>
              <a:t>A multimodal model that combines a vision encoder with a language model to map images or video into representations that can be understood and reasoned over in natural language.</a:t>
            </a:r>
            <a:r>
              <a:rPr lang="en-US" dirty="0">
                <a:cs typeface="Sanskrit Text" panose="02020503050405020304" pitchFamily="18" charset="0"/>
              </a:rPr>
              <a:t>(Eg: </a:t>
            </a:r>
            <a:r>
              <a:rPr lang="en-IN" dirty="0">
                <a:cs typeface="Sanskrit Text" panose="02020503050405020304" pitchFamily="18" charset="0"/>
              </a:rPr>
              <a:t>Llama 3.2-Vision</a:t>
            </a:r>
            <a:r>
              <a:rPr lang="en-US" dirty="0">
                <a:cs typeface="Sanskrit Text" panose="02020503050405020304" pitchFamily="18" charset="0"/>
              </a:rPr>
              <a:t>,QWEN 2.5-VL,etc.)</a:t>
            </a:r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Background &amp; Key Concepts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670866DC-CF32-BB16-6775-D5693983C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06" y="1615932"/>
            <a:ext cx="1104869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focuses on enabling robots to make autonomous decisions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Vision-Language Models (VLMs) and Reinforcement Learning (RL).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VLMs provide visual understanding and interpret high-level task instructions. RL learns effective actions through interaction with the environment. The combined approach aims to achieve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adaptive and context-aware robotic behavior in 3D simulation.</a:t>
            </a: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FAE3B463-3696-BC20-FE5C-DC9813B8D2AE}"/>
              </a:ext>
            </a:extLst>
          </p:cNvPr>
          <p:cNvSpPr/>
          <p:nvPr/>
        </p:nvSpPr>
        <p:spPr>
          <a:xfrm>
            <a:off x="917448" y="494748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is </a:t>
            </a:r>
            <a:r>
              <a:rPr lang="en-IN" sz="2000" b="1" dirty="0">
                <a:latin typeface="Aptos" panose="020B0004020202020204" pitchFamily="34" charset="0"/>
              </a:rPr>
              <a:t>Reinforcement Learning (RL)</a:t>
            </a:r>
            <a:r>
              <a:rPr lang="en-US" sz="20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D27316A5-6EF6-BEC6-38A0-C8D6A6EA7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06" y="5351775"/>
            <a:ext cx="114655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 learning paradigm where an agent learns a policy by interacting with an environment, receiving rewards or penalties, and optimizing its behavior to maximize long-term cumulative reward.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k Orange Circle">
            <a:extLst>
              <a:ext uri="{FF2B5EF4-FFF2-40B4-BE49-F238E27FC236}">
                <a16:creationId xmlns:a16="http://schemas.microsoft.com/office/drawing/2014/main" id="{222E3A56-3166-4005-89AC-9200A1009685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24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DF9C88BE-0F71-C50C-6D9B-261EE002D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2125190"/>
            <a:ext cx="60401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paper discusses on LLMs are being grounded so that it can generate feasible actions that the robot can perform. 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B49EB92C-29CA-C3E4-9730-C2A90D22F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1347660"/>
            <a:ext cx="110486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SayCan</a:t>
            </a:r>
            <a:r>
              <a:rPr lang="en-US" altLang="en-US" sz="2400" b="1" dirty="0">
                <a:latin typeface="Aptos" panose="020B0004020202020204" pitchFamily="34" charset="0"/>
                <a:cs typeface="Arial" panose="020B0604020202020204" pitchFamily="34" charset="0"/>
              </a:rPr>
              <a:t> (2022) - </a:t>
            </a:r>
            <a:r>
              <a:rPr lang="en-US" sz="2400" b="1" dirty="0">
                <a:latin typeface="Aptos" panose="020B0004020202020204" pitchFamily="34" charset="0"/>
              </a:rPr>
              <a:t>Ahn et al.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1A32E6-E0A2-D349-3CB0-A6FD86D8DBDB}"/>
              </a:ext>
            </a:extLst>
          </p:cNvPr>
          <p:cNvSpPr txBox="1"/>
          <p:nvPr/>
        </p:nvSpPr>
        <p:spPr>
          <a:xfrm>
            <a:off x="594361" y="2912540"/>
            <a:ext cx="6040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goal is to accurately predict whether a skill in the skillset space of the robot is feasible at current state by using temporal difference-based methods.</a:t>
            </a:r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31B7C91-C1C9-CAE6-FDB9-69EA9C2B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951" y="2260674"/>
            <a:ext cx="4563112" cy="288647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67D49BC-ABC2-023D-4255-0F19D53A811D}"/>
              </a:ext>
            </a:extLst>
          </p:cNvPr>
          <p:cNvSpPr txBox="1"/>
          <p:nvPr/>
        </p:nvSpPr>
        <p:spPr>
          <a:xfrm>
            <a:off x="594360" y="3898583"/>
            <a:ext cx="6040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affordance function estimates how feasible a robot skill is in the current environment. It assigns a score to each candidate action based on the robot’s ability to execute it successfully.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FDB6-AD1D-AE6A-0B81-5A6EBF32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k Orange Circle">
            <a:extLst>
              <a:ext uri="{FF2B5EF4-FFF2-40B4-BE49-F238E27FC236}">
                <a16:creationId xmlns:a16="http://schemas.microsoft.com/office/drawing/2014/main" id="{A95CE169-2BF9-2B6D-4F13-F63246F29283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52063D-275F-D482-FF0C-0A71ADB84E5C}"/>
              </a:ext>
            </a:extLst>
          </p:cNvPr>
          <p:cNvSpPr/>
          <p:nvPr/>
        </p:nvSpPr>
        <p:spPr>
          <a:xfrm>
            <a:off x="594360" y="624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78A2C9-78F4-D44E-3B94-149FE21BF339}"/>
              </a:ext>
            </a:extLst>
          </p:cNvPr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9EE5F8-EF73-64A8-03D9-ED5543B3C0F9}"/>
              </a:ext>
            </a:extLst>
          </p:cNvPr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06E786-293F-2DC8-5EF2-01CAF9906B38}"/>
              </a:ext>
            </a:extLst>
          </p:cNvPr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4E95ADC-123F-8D8D-AFCE-3B4FC960458E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19CFBBB-E6DD-C27C-AA9A-D4E24D288A78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2BA15308-7A6E-203D-40F9-5F58F7595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2125190"/>
            <a:ext cx="94335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The pretrained VLM models are trained directly to act as instruction following robotic policies. These type of models are called Vision Language Action (VLA) models.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90478A9D-2EDC-E446-98E5-625FFF8B6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1347660"/>
            <a:ext cx="110486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ptos" panose="020B0004020202020204" pitchFamily="34" charset="0"/>
                <a:cs typeface="Arial" panose="020B0604020202020204" pitchFamily="34" charset="0"/>
              </a:rPr>
              <a:t>RT2  (2023) - </a:t>
            </a:r>
            <a:r>
              <a:rPr lang="en-IN" sz="2400" b="1" dirty="0"/>
              <a:t>B. </a:t>
            </a:r>
            <a:r>
              <a:rPr lang="en-IN" sz="2400" b="1" dirty="0" err="1"/>
              <a:t>Zitkovich</a:t>
            </a:r>
            <a:r>
              <a:rPr lang="en-IN" sz="2400" b="1" dirty="0"/>
              <a:t> et al.,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3C881B-5E62-09AB-6F38-66B2EA8AD89C}"/>
              </a:ext>
            </a:extLst>
          </p:cNvPr>
          <p:cNvSpPr txBox="1"/>
          <p:nvPr/>
        </p:nvSpPr>
        <p:spPr>
          <a:xfrm>
            <a:off x="594361" y="2901591"/>
            <a:ext cx="9433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Robot actions are represented as discrete tokens and incorporated into the language-model output space. The model is then co-fine-tuned on large-scale vision-language data and robot trajectories, enabling it to map visual and language inputs directly to robot 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FE661-D1FC-606B-EB11-4C9A9360E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936" y="3853440"/>
            <a:ext cx="7525864" cy="281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6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32D1-EB4B-B0D0-78BA-E639B46E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k Orange Circle">
            <a:extLst>
              <a:ext uri="{FF2B5EF4-FFF2-40B4-BE49-F238E27FC236}">
                <a16:creationId xmlns:a16="http://schemas.microsoft.com/office/drawing/2014/main" id="{3C46C99A-27BC-AA3A-5284-62737F8385E8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0141B7-0A33-BEE3-CEA8-BCE6D17E1074}"/>
              </a:ext>
            </a:extLst>
          </p:cNvPr>
          <p:cNvSpPr/>
          <p:nvPr/>
        </p:nvSpPr>
        <p:spPr>
          <a:xfrm>
            <a:off x="594360" y="624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AF439B-1682-75CD-2431-753747807FCB}"/>
              </a:ext>
            </a:extLst>
          </p:cNvPr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4097C8-A479-D359-9C63-A95027BAA6C3}"/>
              </a:ext>
            </a:extLst>
          </p:cNvPr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BC88C47-96D7-23A7-3F24-22ACFE3C9E95}"/>
              </a:ext>
            </a:extLst>
          </p:cNvPr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06138F5-EC7C-9602-E497-23B40DAFD503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7A8C828-468B-DC40-E324-57B02D1F4966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D2106EC0-D383-09E9-8628-4367579EA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2125190"/>
            <a:ext cx="94335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The pretrained VLM models are trained directly to act as instruction following robotic policies. These type of models are called Vision Language Action (VLA) models.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5E7FED7A-823F-BAF1-1ED2-C55BE43D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1347660"/>
            <a:ext cx="110486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ptos" panose="020B0004020202020204" pitchFamily="34" charset="0"/>
                <a:cs typeface="Arial" panose="020B0604020202020204" pitchFamily="34" charset="0"/>
              </a:rPr>
              <a:t>RT2  (2023) - </a:t>
            </a:r>
            <a:r>
              <a:rPr lang="en-IN" sz="2400" b="1" dirty="0"/>
              <a:t>B. </a:t>
            </a:r>
            <a:r>
              <a:rPr lang="en-IN" sz="2400" b="1" dirty="0" err="1"/>
              <a:t>Zitkovich</a:t>
            </a:r>
            <a:r>
              <a:rPr lang="en-IN" sz="2400" b="1" dirty="0"/>
              <a:t> et al.,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4D3842-257A-BD5C-5D81-8A984093BA54}"/>
              </a:ext>
            </a:extLst>
          </p:cNvPr>
          <p:cNvSpPr txBox="1"/>
          <p:nvPr/>
        </p:nvSpPr>
        <p:spPr>
          <a:xfrm>
            <a:off x="594361" y="2901591"/>
            <a:ext cx="9433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Robot actions are represented as discrete tokens and incorporated into the language-model output space. The model is then co-fine-tuned on large-scale vision-language data and robot trajectories, enabling it to map visual and language inputs directly to robot 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09ADE-94FC-2272-75D4-61043661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936" y="3853440"/>
            <a:ext cx="7525864" cy="281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3C13-0FC1-A6E7-7EC8-392FD58F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k Orange Circle">
            <a:extLst>
              <a:ext uri="{FF2B5EF4-FFF2-40B4-BE49-F238E27FC236}">
                <a16:creationId xmlns:a16="http://schemas.microsoft.com/office/drawing/2014/main" id="{14CE8484-CEC6-CF09-C6E0-A8F54C63293D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B231E6-A696-59E2-66E9-08777016740E}"/>
              </a:ext>
            </a:extLst>
          </p:cNvPr>
          <p:cNvSpPr/>
          <p:nvPr/>
        </p:nvSpPr>
        <p:spPr>
          <a:xfrm>
            <a:off x="594360" y="624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1466B4-1439-E280-F35C-F4F1459ADE24}"/>
              </a:ext>
            </a:extLst>
          </p:cNvPr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64FA494-30C8-CB7A-F56A-4BE45F4F05B8}"/>
              </a:ext>
            </a:extLst>
          </p:cNvPr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3EC2B8-5A95-B40F-1EC0-F3BCDBEA26F2}"/>
              </a:ext>
            </a:extLst>
          </p:cNvPr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>
              <a:latin typeface="Aptos" panose="020B00040202020202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D9E04E5-0AEA-3690-B2A5-A1ECEE19827C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AE10F2A-54DC-D3D8-9D16-B68C3683D1F6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8BCEB232-A188-0C19-F6B4-E3E55C6E8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1986691"/>
            <a:ext cx="94335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While RT2 established the concept that directing employing robotic policies through models is possible, </a:t>
            </a:r>
            <a:r>
              <a:rPr lang="en-US" altLang="en-US" dirty="0" err="1"/>
              <a:t>OpenVLA</a:t>
            </a:r>
            <a:r>
              <a:rPr lang="en-US" altLang="en-US" dirty="0"/>
              <a:t> opened the paradigm more accessible and reproducible for research purposes.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9DDEFEC9-3954-8B32-9D73-FECAB0C7F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1" y="1347660"/>
            <a:ext cx="110486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b="1" dirty="0" err="1"/>
              <a:t>OpenVLA</a:t>
            </a:r>
            <a:r>
              <a:rPr lang="en-IN" sz="2400" b="1" dirty="0"/>
              <a:t> (2024) - M. J. Kim et al.,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AC17CE-E90E-1BB5-4583-18426D52671A}"/>
              </a:ext>
            </a:extLst>
          </p:cNvPr>
          <p:cNvSpPr txBox="1"/>
          <p:nvPr/>
        </p:nvSpPr>
        <p:spPr>
          <a:xfrm>
            <a:off x="594361" y="2901591"/>
            <a:ext cx="9433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OpenVLA</a:t>
            </a:r>
            <a:r>
              <a:rPr lang="en-US" dirty="0"/>
              <a:t> is trained on a large, diverse dataset of ~970K real-world robot demonstrations across multiple embodiments, enabling one model to learn and transfer manipulation skills across different robots and tasks.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5A9D5-B053-3CEF-EBCD-EF08A684C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698" y="3605485"/>
            <a:ext cx="7314941" cy="286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5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ck Orange Circle">
            <a:extLst>
              <a:ext uri="{FF2B5EF4-FFF2-40B4-BE49-F238E27FC236}">
                <a16:creationId xmlns:a16="http://schemas.microsoft.com/office/drawing/2014/main" id="{93BC9278-EA7B-4B94-AEDA-FBF072AA8689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3AD2ED-0E55-CED3-6B6B-C34E0B33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512233"/>
            <a:ext cx="8750300" cy="58335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eck Orange Circle">
            <a:extLst>
              <a:ext uri="{FF2B5EF4-FFF2-40B4-BE49-F238E27FC236}">
                <a16:creationId xmlns:a16="http://schemas.microsoft.com/office/drawing/2014/main" id="{2E50FEA3-8582-444B-9C56-F433E202A521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11460175" y="6172200"/>
            <a:ext cx="1005840" cy="100584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094415" y="5806440"/>
            <a:ext cx="1737360" cy="173736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28655" y="5440680"/>
            <a:ext cx="2468880" cy="246888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06424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261872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6424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261872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>
              <a:latin typeface="Aptos" panose="020B0004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E5E50FE-AF77-12A7-CC7D-80BF40A1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142" y="299449"/>
            <a:ext cx="9411513" cy="61371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eck Orange Circle">
            <a:extLst>
              <a:ext uri="{FF2B5EF4-FFF2-40B4-BE49-F238E27FC236}">
                <a16:creationId xmlns:a16="http://schemas.microsoft.com/office/drawing/2014/main" id="{2BCEC345-1C53-4F6B-A77B-1335AFD73272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Approaches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262F0CE2-3FB2-1148-1994-B1D19B9F3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239071"/>
              </p:ext>
            </p:extLst>
          </p:nvPr>
        </p:nvGraphicFramePr>
        <p:xfrm>
          <a:off x="1107440" y="1625187"/>
          <a:ext cx="9864408" cy="4351337"/>
        </p:xfrm>
        <a:graphic>
          <a:graphicData uri="http://schemas.openxmlformats.org/drawingml/2006/table">
            <a:tbl>
              <a:tblPr/>
              <a:tblGrid>
                <a:gridCol w="2466102">
                  <a:extLst>
                    <a:ext uri="{9D8B030D-6E8A-4147-A177-3AD203B41FA5}">
                      <a16:colId xmlns:a16="http://schemas.microsoft.com/office/drawing/2014/main" val="916472584"/>
                    </a:ext>
                  </a:extLst>
                </a:gridCol>
                <a:gridCol w="2466102">
                  <a:extLst>
                    <a:ext uri="{9D8B030D-6E8A-4147-A177-3AD203B41FA5}">
                      <a16:colId xmlns:a16="http://schemas.microsoft.com/office/drawing/2014/main" val="1884443807"/>
                    </a:ext>
                  </a:extLst>
                </a:gridCol>
                <a:gridCol w="2466102">
                  <a:extLst>
                    <a:ext uri="{9D8B030D-6E8A-4147-A177-3AD203B41FA5}">
                      <a16:colId xmlns:a16="http://schemas.microsoft.com/office/drawing/2014/main" val="859855337"/>
                    </a:ext>
                  </a:extLst>
                </a:gridCol>
                <a:gridCol w="2466102">
                  <a:extLst>
                    <a:ext uri="{9D8B030D-6E8A-4147-A177-3AD203B41FA5}">
                      <a16:colId xmlns:a16="http://schemas.microsoft.com/office/drawing/2014/main" val="150746177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Aspect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582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CLIP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582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VLM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582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VLA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58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608431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Full form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Contrastive Language–Image Pre-training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Vision-Language Model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Vision-Language-Action Model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0951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Primary purpose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Align images and text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Understand and reason about vision + language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Connect vision + language to </a:t>
                      </a:r>
                      <a:r>
                        <a:rPr lang="en-US" sz="1400" b="1"/>
                        <a:t>robot actions</a:t>
                      </a:r>
                      <a:endParaRPr lang="en-US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03808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Input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Image + text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Image/video + text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Image/video + language instruction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328181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Output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Similarity score / embeddings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Text, answers, reasoning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Actions / action tokens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73045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Main capability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Image–text matching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Visual understanding &amp; reasoning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Perception → decision → action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938019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Robotics role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Mainly perception/representation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Scene understanding &amp; task reasoning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Direct robotic control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00204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Example</a:t>
                      </a:r>
                      <a:endParaRPr lang="en-IN" sz="14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“Which text matches this image?”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“What objects are on the table?”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“Pick up the red block.” → robot action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98861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Representative models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CLIP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GPT-4o, Gemini, LLaVA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RT-2, </a:t>
                      </a:r>
                      <a:r>
                        <a:rPr lang="en-IN" sz="1400" dirty="0" err="1"/>
                        <a:t>OpenVLA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1806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ck Orange Circle">
            <a:extLst>
              <a:ext uri="{FF2B5EF4-FFF2-40B4-BE49-F238E27FC236}">
                <a16:creationId xmlns:a16="http://schemas.microsoft.com/office/drawing/2014/main" id="{E391ACB0-7AB5-495B-95FF-3846BDEBC3FD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Roboting Is Moving Based on RT2 Model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94944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Robotic Movement with RT-2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949440" y="24688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RT-2 connects visual perception and language understanding directly to robot actions, enabling a robot to follow instructions and adapt learned concepts to new objects and tasks.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949440" y="3895344"/>
            <a:ext cx="109728" cy="109728"/>
          </a:xfrm>
          <a:prstGeom prst="ellipse">
            <a:avLst/>
          </a:prstGeom>
          <a:solidFill>
            <a:srgbClr val="D98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205472" y="3785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Perceives the scene through camera-based visual inputs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949440" y="4462272"/>
            <a:ext cx="109728" cy="109728"/>
          </a:xfrm>
          <a:prstGeom prst="ellipse">
            <a:avLst/>
          </a:prstGeom>
          <a:solidFill>
            <a:srgbClr val="D98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205472" y="43525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Interprets instructions with a vision-language-action model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949440" y="5029200"/>
            <a:ext cx="109728" cy="109728"/>
          </a:xfrm>
          <a:prstGeom prst="ellipse">
            <a:avLst/>
          </a:prstGeom>
          <a:solidFill>
            <a:srgbClr val="D98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205472" y="4919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Generates actions to move and manipulate the target object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4944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Source: Google DeepMind, RT-2 project overview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1414455" y="6528816"/>
            <a:ext cx="41148" cy="41148"/>
          </a:xfrm>
          <a:prstGeom prst="ellipse">
            <a:avLst/>
          </a:prstGeom>
          <a:solidFill>
            <a:srgbClr val="D98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>
              <a:latin typeface="Aptos" panose="020B0004020202020204" pitchFamily="34" charset="0"/>
            </a:endParaRPr>
          </a:p>
        </p:txBody>
      </p:sp>
      <p:pic>
        <p:nvPicPr>
          <p:cNvPr id="2" name="Untitled Project">
            <a:hlinkClick r:id="" action="ppaction://media"/>
            <a:extLst>
              <a:ext uri="{FF2B5EF4-FFF2-40B4-BE49-F238E27FC236}">
                <a16:creationId xmlns:a16="http://schemas.microsoft.com/office/drawing/2014/main" id="{EB561FC5-4B83-14DE-687D-898BAB03658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8526" y="2111375"/>
            <a:ext cx="5952857" cy="334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7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eck Orange Circle">
            <a:extLst>
              <a:ext uri="{FF2B5EF4-FFF2-40B4-BE49-F238E27FC236}">
                <a16:creationId xmlns:a16="http://schemas.microsoft.com/office/drawing/2014/main" id="{4568FB25-5163-40E3-ACA2-5075E782B294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05895" y="-365760"/>
            <a:ext cx="1005840" cy="100584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140135" y="-731520"/>
            <a:ext cx="1737360" cy="173736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774375" y="-1097280"/>
            <a:ext cx="2468880" cy="2468880"/>
          </a:xfrm>
          <a:prstGeom prst="ellipse">
            <a:avLst/>
          </a:prstGeom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234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edu_template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42864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971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Perception to Action</a:t>
            </a:r>
            <a:endParaRPr lang="en-US" sz="1550" dirty="0"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33832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VLMs interpret scenes and instructions; VLA models such as RT-2 and OpenVLA translate that understanding into action tokens for direct robot control.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2234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edu_template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4286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971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Learning Closes the Loop</a:t>
            </a:r>
            <a:endParaRPr lang="en-US" sz="1550" dirty="0">
              <a:latin typeface="Aptos" panose="020B00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63440" y="33832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Reinforcement learning uses rewards and environment feedback to refine the policy, improving task success and adaptation through repeated interaction.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092440" y="19659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2234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edu_template/icons/bra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242864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2971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Deployment Gaps Remain</a:t>
            </a:r>
            <a:endParaRPr lang="en-US" sz="1550" dirty="0">
              <a:latin typeface="Aptos" panose="020B00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412480" y="33832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Reliable real-world use still requires diverse data, stronger generalization, sim-to-real transfer, efficient compute, safety controls, and interpretable decisions.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Summary &amp; Q&amp;A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1414455" y="6528816"/>
            <a:ext cx="41148" cy="41148"/>
          </a:xfrm>
          <a:prstGeom prst="ellipse">
            <a:avLst/>
          </a:prstGeom>
          <a:solidFill>
            <a:srgbClr val="D98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03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658C-5A2B-823F-1CDE-1B4A9D6C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eck Orange Circle">
            <a:extLst>
              <a:ext uri="{FF2B5EF4-FFF2-40B4-BE49-F238E27FC236}">
                <a16:creationId xmlns:a16="http://schemas.microsoft.com/office/drawing/2014/main" id="{A7F85AE4-BA17-2182-781E-2DF7F6D2736D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BD28461-498B-AB4C-199C-3B21E135A60C}"/>
              </a:ext>
            </a:extLst>
          </p:cNvPr>
          <p:cNvSpPr/>
          <p:nvPr/>
        </p:nvSpPr>
        <p:spPr>
          <a:xfrm>
            <a:off x="11460175" y="6172200"/>
            <a:ext cx="1005840" cy="100584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1B2E59-99AD-7753-D81B-342F0C586171}"/>
              </a:ext>
            </a:extLst>
          </p:cNvPr>
          <p:cNvSpPr/>
          <p:nvPr/>
        </p:nvSpPr>
        <p:spPr>
          <a:xfrm>
            <a:off x="11094415" y="5806440"/>
            <a:ext cx="1737360" cy="173736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CC9A05-EB40-95A7-DE0A-B7E58F1024B5}"/>
              </a:ext>
            </a:extLst>
          </p:cNvPr>
          <p:cNvSpPr/>
          <p:nvPr/>
        </p:nvSpPr>
        <p:spPr>
          <a:xfrm>
            <a:off x="10728655" y="5440680"/>
            <a:ext cx="2468880" cy="246888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5FC8C1-F03D-D3A9-9BAA-91031B3E5756}"/>
              </a:ext>
            </a:extLst>
          </p:cNvPr>
          <p:cNvSpPr/>
          <p:nvPr/>
        </p:nvSpPr>
        <p:spPr>
          <a:xfrm>
            <a:off x="1106424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F11F3C3-FBBA-6DB3-A948-916B620F48BE}"/>
              </a:ext>
            </a:extLst>
          </p:cNvPr>
          <p:cNvSpPr/>
          <p:nvPr/>
        </p:nvSpPr>
        <p:spPr>
          <a:xfrm>
            <a:off x="1261872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9148AF1-E215-7268-4C98-E87D0385A4B5}"/>
              </a:ext>
            </a:extLst>
          </p:cNvPr>
          <p:cNvSpPr/>
          <p:nvPr/>
        </p:nvSpPr>
        <p:spPr>
          <a:xfrm>
            <a:off x="1106424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9B9AAFF-9C67-496E-ED2C-4623A2C1888F}"/>
              </a:ext>
            </a:extLst>
          </p:cNvPr>
          <p:cNvSpPr/>
          <p:nvPr/>
        </p:nvSpPr>
        <p:spPr>
          <a:xfrm>
            <a:off x="1261872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6F5B195-0314-E16F-D13A-223D768CE87D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cs typeface="Calibri" pitchFamily="34" charset="-120"/>
              </a:rPr>
              <a:t>13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" name="References Title">
            <a:extLst>
              <a:ext uri="{FF2B5EF4-FFF2-40B4-BE49-F238E27FC236}">
                <a16:creationId xmlns:a16="http://schemas.microsoft.com/office/drawing/2014/main" id="{87BDB7FF-942B-4223-8DE9-E48E3B4A79BA}"/>
              </a:ext>
            </a:extLst>
          </p:cNvPr>
          <p:cNvSpPr txBox="1"/>
          <p:nvPr/>
        </p:nvSpPr>
        <p:spPr>
          <a:xfrm>
            <a:off x="609600" y="698500"/>
            <a:ext cx="762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IN" sz="3000" b="1" dirty="0">
                <a:solidFill>
                  <a:srgbClr val="111827"/>
                </a:solidFill>
                <a:latin typeface="Aptos"/>
              </a:rPr>
              <a:t>References</a:t>
            </a:r>
          </a:p>
        </p:txBody>
      </p:sp>
      <p:sp>
        <p:nvSpPr>
          <p:cNvPr id="10" name="Reference 1">
            <a:extLst>
              <a:ext uri="{FF2B5EF4-FFF2-40B4-BE49-F238E27FC236}">
                <a16:creationId xmlns:a16="http://schemas.microsoft.com/office/drawing/2014/main" id="{E588ACCB-54D7-4465-AEF3-FC488B25466B}"/>
              </a:ext>
            </a:extLst>
          </p:cNvPr>
          <p:cNvSpPr txBox="1"/>
          <p:nvPr/>
        </p:nvSpPr>
        <p:spPr>
          <a:xfrm>
            <a:off x="1135685" y="1686611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Ahn, M., et al. (2022). Do As I Can, Not As I Say: Grounding Language in Robotic Affordances. arXiv:2204.01691.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ference 2">
            <a:extLst>
              <a:ext uri="{FF2B5EF4-FFF2-40B4-BE49-F238E27FC236}">
                <a16:creationId xmlns:a16="http://schemas.microsoft.com/office/drawing/2014/main" id="{8C849993-630F-4916-A378-3C99E1768011}"/>
              </a:ext>
            </a:extLst>
          </p:cNvPr>
          <p:cNvSpPr txBox="1"/>
          <p:nvPr/>
        </p:nvSpPr>
        <p:spPr>
          <a:xfrm>
            <a:off x="1121054" y="2360879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Brohan, A., et al. (2023). RT-2: Vision-Language-Action Models Transfer Web Knowledge to Robotic Control. arXiv:2307.15818.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ference 3">
            <a:extLst>
              <a:ext uri="{FF2B5EF4-FFF2-40B4-BE49-F238E27FC236}">
                <a16:creationId xmlns:a16="http://schemas.microsoft.com/office/drawing/2014/main" id="{DA66D6AE-8C34-42DA-BFE2-1600AACEF838}"/>
              </a:ext>
            </a:extLst>
          </p:cNvPr>
          <p:cNvSpPr txBox="1"/>
          <p:nvPr/>
        </p:nvSpPr>
        <p:spPr>
          <a:xfrm>
            <a:off x="1121054" y="3101442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Kim, M. J., et al. (2024). OpenVLA: An Open-Source Vision-Language-Action Model. arXiv:2406.09246.</a:t>
            </a:r>
          </a:p>
        </p:txBody>
      </p:sp>
    </p:spTree>
    <p:extLst>
      <p:ext uri="{BB962C8B-B14F-4D97-AF65-F5344CB8AC3E}">
        <p14:creationId xmlns:p14="http://schemas.microsoft.com/office/powerpoint/2010/main" val="3392715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658C-5A2B-823F-1CDE-1B4A9D6C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eck Orange Circle">
            <a:extLst>
              <a:ext uri="{FF2B5EF4-FFF2-40B4-BE49-F238E27FC236}">
                <a16:creationId xmlns:a16="http://schemas.microsoft.com/office/drawing/2014/main" id="{A7F85AE4-BA17-2182-781E-2DF7F6D2736D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BD28461-498B-AB4C-199C-3B21E135A60C}"/>
              </a:ext>
            </a:extLst>
          </p:cNvPr>
          <p:cNvSpPr/>
          <p:nvPr/>
        </p:nvSpPr>
        <p:spPr>
          <a:xfrm>
            <a:off x="11460175" y="6172200"/>
            <a:ext cx="1005840" cy="100584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1B2E59-99AD-7753-D81B-342F0C586171}"/>
              </a:ext>
            </a:extLst>
          </p:cNvPr>
          <p:cNvSpPr/>
          <p:nvPr/>
        </p:nvSpPr>
        <p:spPr>
          <a:xfrm>
            <a:off x="11094415" y="5806440"/>
            <a:ext cx="1737360" cy="173736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CC9A05-EB40-95A7-DE0A-B7E58F1024B5}"/>
              </a:ext>
            </a:extLst>
          </p:cNvPr>
          <p:cNvSpPr/>
          <p:nvPr/>
        </p:nvSpPr>
        <p:spPr>
          <a:xfrm>
            <a:off x="10728655" y="5440680"/>
            <a:ext cx="2468880" cy="246888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5FC8C1-F03D-D3A9-9BAA-91031B3E5756}"/>
              </a:ext>
            </a:extLst>
          </p:cNvPr>
          <p:cNvSpPr/>
          <p:nvPr/>
        </p:nvSpPr>
        <p:spPr>
          <a:xfrm>
            <a:off x="1106424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F11F3C3-FBBA-6DB3-A948-916B620F48BE}"/>
              </a:ext>
            </a:extLst>
          </p:cNvPr>
          <p:cNvSpPr/>
          <p:nvPr/>
        </p:nvSpPr>
        <p:spPr>
          <a:xfrm>
            <a:off x="1261872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9148AF1-E215-7268-4C98-E87D0385A4B5}"/>
              </a:ext>
            </a:extLst>
          </p:cNvPr>
          <p:cNvSpPr/>
          <p:nvPr/>
        </p:nvSpPr>
        <p:spPr>
          <a:xfrm>
            <a:off x="1106424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9B9AAFF-9C67-496E-ED2C-4623A2C1888F}"/>
              </a:ext>
            </a:extLst>
          </p:cNvPr>
          <p:cNvSpPr/>
          <p:nvPr/>
        </p:nvSpPr>
        <p:spPr>
          <a:xfrm>
            <a:off x="1261872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6F5B195-0314-E16F-D13A-223D768CE87D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cs typeface="Calibri" pitchFamily="34" charset="-120"/>
              </a:rPr>
              <a:t>14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" name="References Title">
            <a:extLst>
              <a:ext uri="{FF2B5EF4-FFF2-40B4-BE49-F238E27FC236}">
                <a16:creationId xmlns:a16="http://schemas.microsoft.com/office/drawing/2014/main" id="{87BDB7FF-942B-4223-8DE9-E48E3B4A79BA}"/>
              </a:ext>
            </a:extLst>
          </p:cNvPr>
          <p:cNvSpPr txBox="1"/>
          <p:nvPr/>
        </p:nvSpPr>
        <p:spPr>
          <a:xfrm>
            <a:off x="609600" y="698500"/>
            <a:ext cx="762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IN" sz="3000" b="1" dirty="0">
                <a:solidFill>
                  <a:srgbClr val="111827"/>
                </a:solidFill>
                <a:latin typeface="Aptos"/>
              </a:rPr>
              <a:t>References</a:t>
            </a:r>
          </a:p>
        </p:txBody>
      </p:sp>
      <p:sp>
        <p:nvSpPr>
          <p:cNvPr id="10" name="Reference 1">
            <a:extLst>
              <a:ext uri="{FF2B5EF4-FFF2-40B4-BE49-F238E27FC236}">
                <a16:creationId xmlns:a16="http://schemas.microsoft.com/office/drawing/2014/main" id="{E588ACCB-54D7-4465-AEF3-FC488B25466B}"/>
              </a:ext>
            </a:extLst>
          </p:cNvPr>
          <p:cNvSpPr txBox="1"/>
          <p:nvPr/>
        </p:nvSpPr>
        <p:spPr>
          <a:xfrm>
            <a:off x="1135685" y="1686611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Brohan, A., et al. (2022). RT-1: Robotics Transformer for Real-World Control at Scale. arXiv:2212.06817.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ference 2">
            <a:extLst>
              <a:ext uri="{FF2B5EF4-FFF2-40B4-BE49-F238E27FC236}">
                <a16:creationId xmlns:a16="http://schemas.microsoft.com/office/drawing/2014/main" id="{8C849993-630F-4916-A378-3C99E1768011}"/>
              </a:ext>
            </a:extLst>
          </p:cNvPr>
          <p:cNvSpPr txBox="1"/>
          <p:nvPr/>
        </p:nvSpPr>
        <p:spPr>
          <a:xfrm>
            <a:off x="1121054" y="2360879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Radford, A., et al. (2021). Learning Transferable Visual Models From Natural Language Supervision. Proceedings of ICML.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ference 3">
            <a:extLst>
              <a:ext uri="{FF2B5EF4-FFF2-40B4-BE49-F238E27FC236}">
                <a16:creationId xmlns:a16="http://schemas.microsoft.com/office/drawing/2014/main" id="{DA66D6AE-8C34-42DA-BFE2-1600AACEF838}"/>
              </a:ext>
            </a:extLst>
          </p:cNvPr>
          <p:cNvSpPr txBox="1"/>
          <p:nvPr/>
        </p:nvSpPr>
        <p:spPr>
          <a:xfrm>
            <a:off x="1121054" y="3101442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Singh, I., et al. (2023). ProgPrompt: Generating Situated Robot Task Plans using Large Language Models. Proceedings of ICRA.</a:t>
            </a:r>
          </a:p>
        </p:txBody>
      </p:sp>
    </p:spTree>
    <p:extLst>
      <p:ext uri="{BB962C8B-B14F-4D97-AF65-F5344CB8AC3E}">
        <p14:creationId xmlns:p14="http://schemas.microsoft.com/office/powerpoint/2010/main" val="17211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658C-5A2B-823F-1CDE-1B4A9D6C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eck Orange Circle">
            <a:extLst>
              <a:ext uri="{FF2B5EF4-FFF2-40B4-BE49-F238E27FC236}">
                <a16:creationId xmlns:a16="http://schemas.microsoft.com/office/drawing/2014/main" id="{A7F85AE4-BA17-2182-781E-2DF7F6D2736D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BD28461-498B-AB4C-199C-3B21E135A60C}"/>
              </a:ext>
            </a:extLst>
          </p:cNvPr>
          <p:cNvSpPr/>
          <p:nvPr/>
        </p:nvSpPr>
        <p:spPr>
          <a:xfrm>
            <a:off x="11460175" y="6172200"/>
            <a:ext cx="1005840" cy="100584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1B2E59-99AD-7753-D81B-342F0C586171}"/>
              </a:ext>
            </a:extLst>
          </p:cNvPr>
          <p:cNvSpPr/>
          <p:nvPr/>
        </p:nvSpPr>
        <p:spPr>
          <a:xfrm>
            <a:off x="11094415" y="5806440"/>
            <a:ext cx="1737360" cy="173736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CC9A05-EB40-95A7-DE0A-B7E58F1024B5}"/>
              </a:ext>
            </a:extLst>
          </p:cNvPr>
          <p:cNvSpPr/>
          <p:nvPr/>
        </p:nvSpPr>
        <p:spPr>
          <a:xfrm>
            <a:off x="10728655" y="5440680"/>
            <a:ext cx="2468880" cy="2468880"/>
          </a:xfrm>
          <a:prstGeom prst="ellipse">
            <a:avLst/>
          </a:prstGeom>
          <a:ln w="12700">
            <a:solidFill>
              <a:srgbClr val="E4E9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5FC8C1-F03D-D3A9-9BAA-91031B3E5756}"/>
              </a:ext>
            </a:extLst>
          </p:cNvPr>
          <p:cNvSpPr/>
          <p:nvPr/>
        </p:nvSpPr>
        <p:spPr>
          <a:xfrm>
            <a:off x="1106424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F11F3C3-FBBA-6DB3-A948-916B620F48BE}"/>
              </a:ext>
            </a:extLst>
          </p:cNvPr>
          <p:cNvSpPr/>
          <p:nvPr/>
        </p:nvSpPr>
        <p:spPr>
          <a:xfrm>
            <a:off x="1261872" y="640080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9148AF1-E215-7268-4C98-E87D0385A4B5}"/>
              </a:ext>
            </a:extLst>
          </p:cNvPr>
          <p:cNvSpPr/>
          <p:nvPr/>
        </p:nvSpPr>
        <p:spPr>
          <a:xfrm>
            <a:off x="1106424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9B9AAFF-9C67-496E-ED2C-4623A2C1888F}"/>
              </a:ext>
            </a:extLst>
          </p:cNvPr>
          <p:cNvSpPr/>
          <p:nvPr/>
        </p:nvSpPr>
        <p:spPr>
          <a:xfrm>
            <a:off x="1261872" y="795528"/>
            <a:ext cx="29261" cy="29261"/>
          </a:xfrm>
          <a:prstGeom prst="ellipse">
            <a:avLst/>
          </a:prstGeom>
          <a:solidFill>
            <a:srgbClr val="E4E9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6F5B195-0314-E16F-D13A-223D768CE87D}"/>
              </a:ext>
            </a:extLst>
          </p:cNvPr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Aptos" panose="020B0004020202020204" pitchFamily="34" charset="0"/>
                <a:cs typeface="Calibri" pitchFamily="34" charset="-120"/>
              </a:rPr>
              <a:t>15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" name="References Title">
            <a:extLst>
              <a:ext uri="{FF2B5EF4-FFF2-40B4-BE49-F238E27FC236}">
                <a16:creationId xmlns:a16="http://schemas.microsoft.com/office/drawing/2014/main" id="{87BDB7FF-942B-4223-8DE9-E48E3B4A79BA}"/>
              </a:ext>
            </a:extLst>
          </p:cNvPr>
          <p:cNvSpPr txBox="1"/>
          <p:nvPr/>
        </p:nvSpPr>
        <p:spPr>
          <a:xfrm>
            <a:off x="609600" y="698500"/>
            <a:ext cx="762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IN" sz="3000" b="1" dirty="0">
                <a:solidFill>
                  <a:srgbClr val="111827"/>
                </a:solidFill>
                <a:latin typeface="Aptos"/>
              </a:rPr>
              <a:t>References</a:t>
            </a:r>
          </a:p>
        </p:txBody>
      </p:sp>
      <p:sp>
        <p:nvSpPr>
          <p:cNvPr id="10" name="Reference 1">
            <a:extLst>
              <a:ext uri="{FF2B5EF4-FFF2-40B4-BE49-F238E27FC236}">
                <a16:creationId xmlns:a16="http://schemas.microsoft.com/office/drawing/2014/main" id="{E588ACCB-54D7-4465-AEF3-FC488B25466B}"/>
              </a:ext>
            </a:extLst>
          </p:cNvPr>
          <p:cNvSpPr txBox="1"/>
          <p:nvPr/>
        </p:nvSpPr>
        <p:spPr>
          <a:xfrm>
            <a:off x="1135685" y="1686611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Liang, J., et al. (2022). Code as Policies: Language Model Programs for Embodied Control. arXiv:2209.07753.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ference 2">
            <a:extLst>
              <a:ext uri="{FF2B5EF4-FFF2-40B4-BE49-F238E27FC236}">
                <a16:creationId xmlns:a16="http://schemas.microsoft.com/office/drawing/2014/main" id="{8C849993-630F-4916-A378-3C99E1768011}"/>
              </a:ext>
            </a:extLst>
          </p:cNvPr>
          <p:cNvSpPr txBox="1"/>
          <p:nvPr/>
        </p:nvSpPr>
        <p:spPr>
          <a:xfrm>
            <a:off x="1121054" y="2360879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Vaswani, A., et al. (2017). Attention Is All You Need. Advances in Neural Information Processing Systems, 30.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ference 3">
            <a:extLst>
              <a:ext uri="{FF2B5EF4-FFF2-40B4-BE49-F238E27FC236}">
                <a16:creationId xmlns:a16="http://schemas.microsoft.com/office/drawing/2014/main" id="{DA66D6AE-8C34-42DA-BFE2-1600AACEF838}"/>
              </a:ext>
            </a:extLst>
          </p:cNvPr>
          <p:cNvSpPr txBox="1"/>
          <p:nvPr/>
        </p:nvSpPr>
        <p:spPr>
          <a:xfrm>
            <a:off x="1121054" y="3101442"/>
            <a:ext cx="977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Huang, W., et al. (2022). Inner Monologue: Embodied Reasoning through Planning with Language Models. Proceedings of CoRL.</a:t>
            </a:r>
          </a:p>
        </p:txBody>
      </p:sp>
    </p:spTree>
    <p:extLst>
      <p:ext uri="{BB962C8B-B14F-4D97-AF65-F5344CB8AC3E}">
        <p14:creationId xmlns:p14="http://schemas.microsoft.com/office/powerpoint/2010/main" val="2336346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eck Orange Circle">
            <a:extLst>
              <a:ext uri="{FF2B5EF4-FFF2-40B4-BE49-F238E27FC236}">
                <a16:creationId xmlns:a16="http://schemas.microsoft.com/office/drawing/2014/main" id="{41E1642A-B4A0-4A86-9CBC-B0114B51C434}"/>
              </a:ext>
            </a:extLst>
          </p:cNvPr>
          <p:cNvSpPr/>
          <p:nvPr/>
        </p:nvSpPr>
        <p:spPr>
          <a:xfrm>
            <a:off x="-929640" y="-1110361"/>
            <a:ext cx="2037080" cy="1935480"/>
          </a:xfrm>
          <a:prstGeom prst="ellipse">
            <a:avLst/>
          </a:prstGeom>
          <a:solidFill>
            <a:srgbClr val="F582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11414455" y="6172200"/>
            <a:ext cx="1005840" cy="100584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048695" y="5806440"/>
            <a:ext cx="1737360" cy="173736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82935" y="5440680"/>
            <a:ext cx="2468880" cy="2468880"/>
          </a:xfrm>
          <a:prstGeom prst="ellipse">
            <a:avLst/>
          </a:prstGeom>
          <a:ln w="12700">
            <a:solidFill>
              <a:srgbClr val="2C4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5943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50976" y="5943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06424" y="5943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261872" y="5943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17320" y="594360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" y="7498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95528" y="7498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50976" y="7498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106424" y="7498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261872" y="7498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17320" y="749808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9052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5528" y="9052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50976" y="9052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106424" y="9052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261872" y="9052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417320" y="905256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0080" y="10607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95528" y="10607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50976" y="10607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06424" y="10607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261872" y="10607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417320" y="1060704"/>
            <a:ext cx="29261" cy="29261"/>
          </a:xfrm>
          <a:prstGeom prst="ellipse">
            <a:avLst/>
          </a:prstGeom>
          <a:solidFill>
            <a:srgbClr val="3547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135685" y="2812694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ptos" panose="020B0004020202020204" pitchFamily="34" charset="0"/>
                <a:ea typeface="Cambria" pitchFamily="34" charset="-122"/>
              </a:rPr>
              <a:t>Thank You</a:t>
            </a:r>
            <a:endParaRPr lang="en-US" sz="7200" dirty="0">
              <a:latin typeface="Aptos" panose="020B0004020202020204" pitchFamily="34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11414455" y="6528816"/>
            <a:ext cx="41148" cy="41148"/>
          </a:xfrm>
          <a:prstGeom prst="ellipse">
            <a:avLst/>
          </a:prstGeom>
          <a:solidFill>
            <a:srgbClr val="D98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/>
          <p:nvPr/>
        </p:nvSpPr>
        <p:spPr>
          <a:xfrm>
            <a:off x="11478463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  <wetp:taskpane dockstate="right" visibility="0" width="438" row="2">
    <wetp:webextensionref xmlns:r="http://schemas.openxmlformats.org/officeDocument/2006/relationships" r:id="rId3"/>
  </wetp:taskpane>
  <wetp:taskpane dockstate="right" visibility="0" width="438" row="0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EB90A7DD-9CD6-4ECC-A5C8-007B4C41C502}">
  <we:reference id="wa200005566" version="3.0.1.2" store="en-US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28DF15D-3A72-4EAC-A810-4335A5AEABFD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011C4B9-CE0B-4722-8E04-A90F497309AC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dbaaf8c7-642c-4a64-a38b-f06a0663bad3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B114FFD4-68CE-4D02-8FE8-4CB07ED9985D}">
  <we:reference id="wa200010215" version="2.0.0.0" store="en-US" storeType="OMEX"/>
  <we:alternateReferences>
    <we:reference id="wa200010215" version="2.0.0.0" store="wa200010215" storeType="OMEX"/>
  </we:alternateReferences>
  <we:properties>
    <we:property name="bps.codex_control.document_id" value="&quot;a3101608-aaf7-4a75-bf6e-6b467c3fc73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1131</Words>
  <Application>Microsoft Office PowerPoint</Application>
  <PresentationFormat>Widescreen</PresentationFormat>
  <Paragraphs>142</Paragraphs>
  <Slides>16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Cambria</vt:lpstr>
      <vt:lpstr>Sanskrit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Abhiram P</cp:lastModifiedBy>
  <cp:revision>4</cp:revision>
  <dcterms:created xsi:type="dcterms:W3CDTF">2026-08-10T06:20:45Z</dcterms:created>
  <dcterms:modified xsi:type="dcterms:W3CDTF">2026-08-10T19:42:52Z</dcterms:modified>
</cp:coreProperties>
</file>